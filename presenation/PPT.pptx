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Georgia" panose="02040502050405020303" pitchFamily="18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Sora Medium" panose="020B0604020202020204" charset="0"/>
      <p:regular r:id="rId25"/>
    </p:embeddedFont>
    <p:embeddedFont>
      <p:font typeface="Noto Sans TC" panose="020B0604020202020204" charset="-128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0BB8FA"/>
    <a:srgbClr val="1353C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2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25119" y="1682204"/>
            <a:ext cx="576553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400" b="1" dirty="0" smtClean="0">
                <a:solidFill>
                  <a:srgbClr val="1353CD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FINVAUL</a:t>
            </a:r>
            <a:endParaRPr lang="en-US" sz="4400" b="1" dirty="0">
              <a:solidFill>
                <a:srgbClr val="1353CD"/>
              </a:solidFill>
              <a:latin typeface="Times New Roman" panose="02020603050405020304" pitchFamily="18" charset="0"/>
              <a:ea typeface="Sora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3450"/>
              </a:lnSpc>
              <a:buNone/>
            </a:pPr>
            <a:r>
              <a:rPr lang="en-US" sz="2800" b="1" dirty="0" smtClean="0">
                <a:solidFill>
                  <a:srgbClr val="0BB8FA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Smart </a:t>
            </a:r>
            <a:r>
              <a:rPr lang="en-US" sz="2800" b="1" dirty="0">
                <a:solidFill>
                  <a:srgbClr val="0BB8FA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Banking Dashboard</a:t>
            </a:r>
            <a:endParaRPr lang="en-US" sz="2800" b="1" dirty="0">
              <a:solidFill>
                <a:srgbClr val="0BB8FA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7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Times New Roman" panose="02020603050405020304" pitchFamily="18" charset="0"/>
              </a:rPr>
              <a:t>Interactive analytics platform to monitor customer financial behavior, assess credit risk, and surface actionable insights for smarter lending and treasury decisions.</a:t>
            </a:r>
            <a:endParaRPr lang="en-US" sz="12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574" y="-1"/>
            <a:ext cx="3925119" cy="53348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6154" y="138544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80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Project Snapshot</a:t>
            </a:r>
            <a:endParaRPr lang="en-US" sz="280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" y="-119270"/>
            <a:ext cx="3572697" cy="5262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9701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353CD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Overview</a:t>
            </a:r>
            <a:endParaRPr lang="en-US" sz="1400" b="1" dirty="0">
              <a:solidFill>
                <a:srgbClr val="1353CD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99892" y="2333402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 analytics </a:t>
            </a: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project: </a:t>
            </a:r>
            <a:endParaRPr lang="en-US" sz="1100" dirty="0" smtClean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CSV 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PostgreSQL → Python (EDA, feature engineering) → Power BI (Power Query, DAX, Dashboards). 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141390"/>
            <a:ext cx="475267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Dataset: 3,000 banking clients (CSV → PostgreSQL)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Tools: PostgreSQL, Python, Power BI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Focus: risk analytics, deposits, loans, KPIs, time-based slicers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373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40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Data Pipeline</a:t>
            </a:r>
            <a:endParaRPr lang="en-US" sz="440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55932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7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Seven-step flow: </a:t>
            </a:r>
            <a:endParaRPr lang="en-US" sz="1600" dirty="0" smtClean="0">
              <a:solidFill>
                <a:srgbClr val="E0D6DE"/>
              </a:solidFill>
              <a:latin typeface="Georgia" panose="02040502050405020303" pitchFamily="18" charset="0"/>
              <a:ea typeface="Noto Sans TC" pitchFamily="34" charset="-122"/>
              <a:cs typeface="Noto Sans TC" pitchFamily="34" charset="-120"/>
            </a:endParaRPr>
          </a:p>
          <a:p>
            <a:pPr marL="0" indent="0" algn="just">
              <a:lnSpc>
                <a:spcPts val="175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1) CSV </a:t>
            </a:r>
            <a:r>
              <a:rPr lang="en-US" sz="160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files → 2) Import to PostgreSQL → </a:t>
            </a:r>
            <a:endParaRPr lang="en-US" sz="1600" dirty="0" smtClean="0">
              <a:solidFill>
                <a:srgbClr val="E0D6DE"/>
              </a:solidFill>
              <a:latin typeface="Georgia" panose="02040502050405020303" pitchFamily="18" charset="0"/>
              <a:ea typeface="Noto Sans TC" pitchFamily="34" charset="-122"/>
              <a:cs typeface="Noto Sans TC" pitchFamily="34" charset="-120"/>
            </a:endParaRPr>
          </a:p>
          <a:p>
            <a:pPr marL="0" indent="0" algn="just">
              <a:lnSpc>
                <a:spcPts val="1750"/>
              </a:lnSpc>
              <a:buNone/>
            </a:pPr>
            <a:r>
              <a:rPr lang="en-US" sz="160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3</a:t>
            </a:r>
            <a:r>
              <a:rPr lang="en-US" sz="160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) Storage → 4) Python cleaning &amp; EDA → 5) Power Query transformations → 6) Power BI data modeling (DAX) → 7) Interactive Power BI dashboards.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945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450"/>
              </a:lnSpc>
              <a:buNone/>
            </a:pPr>
            <a:r>
              <a:rPr lang="en-US" sz="320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Data Cleaning &amp; Feature Engineering</a:t>
            </a:r>
            <a:endParaRPr lang="en-US" sz="320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925119" y="1893094"/>
            <a:ext cx="2290465" cy="1270471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034853"/>
            <a:ext cx="18107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Feature Engineering</a:t>
            </a:r>
            <a:endParaRPr lang="en-US" b="1" dirty="0">
              <a:solidFill>
                <a:srgbClr val="D600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66877" y="2341364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Income_band via pd.cut: Low (&lt;100K), Mid (&lt;300K), High (300K+)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893094"/>
            <a:ext cx="2290539" cy="1270471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6409650" y="2034853"/>
            <a:ext cx="19997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Power</a:t>
            </a: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Query</a:t>
            </a: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9" name="Text 6"/>
          <p:cNvSpPr/>
          <p:nvPr/>
        </p:nvSpPr>
        <p:spPr>
          <a:xfrm>
            <a:off x="6499101" y="2341364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Convert ID columns to readable labels (GenderId, BRIId, IAId)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05324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4470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EDA</a:t>
            </a: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b="1" dirty="0">
                <a:solidFill>
                  <a:srgbClr val="D60093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12" name="Text 9"/>
          <p:cNvSpPr/>
          <p:nvPr/>
        </p:nvSpPr>
        <p:spPr>
          <a:xfrm>
            <a:off x="4066877" y="3753594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Pandas, Matplotlib, Seaborn; correlation heatmap and regplots for bivariate checks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349300"/>
            <a:ext cx="4846737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Correlation &amp; Bivariate Findings</a:t>
            </a:r>
            <a:endParaRPr lang="en-US" sz="280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863132" y="12945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Strong correlations</a:t>
            </a:r>
            <a:endParaRPr lang="en-US" sz="16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863132" y="1574403"/>
            <a:ext cx="4846737" cy="386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0"/>
              </a:lnSpc>
            </a:pP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Bank Deposits </a:t>
            </a:r>
            <a:r>
              <a:rPr lang="en-US" sz="1050" dirty="0" smtClean="0">
                <a:solidFill>
                  <a:schemeClr val="bg1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↔ Checking</a:t>
            </a:r>
            <a:r>
              <a:rPr lang="en-US" sz="105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Accounts (0.84</a:t>
            </a:r>
            <a:r>
              <a:rPr lang="en-US" sz="105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)</a:t>
            </a:r>
          </a:p>
          <a:p>
            <a:pPr>
              <a:lnSpc>
                <a:spcPts val="1450"/>
              </a:lnSpc>
            </a:pPr>
            <a:r>
              <a:rPr lang="en-US" sz="105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Deposits </a:t>
            </a:r>
            <a:r>
              <a:rPr lang="en-US" sz="1050" dirty="0" smtClean="0">
                <a:solidFill>
                  <a:schemeClr val="bg1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 ↔ </a:t>
            </a: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Savings (0.75) — identifies high-liquidity saver segment.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3863132" y="262356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Loan relationships</a:t>
            </a:r>
            <a:endParaRPr lang="en-US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863132" y="2882528"/>
            <a:ext cx="4846737" cy="386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Bank Loans 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↔</a:t>
            </a: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 Business Lending (0.42); </a:t>
            </a:r>
            <a:endParaRPr lang="en-US" sz="1050" dirty="0" smtClean="0">
              <a:solidFill>
                <a:srgbClr val="E0D6DE"/>
              </a:solidFill>
              <a:latin typeface="Georgia" panose="02040502050405020303" pitchFamily="18" charset="0"/>
              <a:ea typeface="Noto Sans TC" pitchFamily="34" charset="-122"/>
              <a:cs typeface="Noto Sans TC" pitchFamily="34" charset="-120"/>
            </a:endParaRPr>
          </a:p>
          <a:p>
            <a:pPr marL="0" indent="0" algn="l">
              <a:lnSpc>
                <a:spcPts val="1450"/>
              </a:lnSpc>
              <a:buNone/>
            </a:pPr>
            <a:r>
              <a:rPr lang="en-US" sz="1050" dirty="0" smtClean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Bank </a:t>
            </a: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Loans 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↔</a:t>
            </a: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 Credit Card Balance (0.37) — debt-layering and SME signals.</a:t>
            </a:r>
            <a:endParaRPr lang="en-US" sz="1050" dirty="0">
              <a:latin typeface="Georgia" panose="02040502050405020303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863132" y="39316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Independent signal</a:t>
            </a:r>
            <a:endParaRPr lang="en-US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863132" y="4190653"/>
            <a:ext cx="48467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Georgia" panose="02040502050405020303" pitchFamily="18" charset="0"/>
                <a:ea typeface="Noto Sans TC" pitchFamily="34" charset="-122"/>
                <a:cs typeface="Noto Sans TC" pitchFamily="34" charset="-120"/>
              </a:rPr>
              <a:t>Superannuation shows no correlation with banking variables — employer-driven.</a:t>
            </a:r>
            <a:endParaRPr lang="en-US" sz="105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2394"/>
            <a:ext cx="47956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BB8FA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Calculated Columns (DAX)</a:t>
            </a:r>
            <a:endParaRPr lang="en-US" sz="2750" b="1" dirty="0">
              <a:solidFill>
                <a:srgbClr val="0BB8FA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4997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Processing Fees</a:t>
            </a:r>
            <a:endParaRPr lang="en-US" sz="14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880667"/>
            <a:ext cx="3902943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5" name="Shape 3"/>
          <p:cNvSpPr/>
          <p:nvPr/>
        </p:nvSpPr>
        <p:spPr>
          <a:xfrm>
            <a:off x="489049" y="1880667"/>
            <a:ext cx="3917082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6" name="Text 4"/>
          <p:cNvSpPr/>
          <p:nvPr/>
        </p:nvSpPr>
        <p:spPr>
          <a:xfrm>
            <a:off x="666229" y="2022425"/>
            <a:ext cx="35627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EE78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SWITCH('public customer'[Fee Structure],"High",0.05,"Mid",0.03,"Low",0.01,0)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777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Engagement</a:t>
            </a: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Days</a:t>
            </a:r>
          </a:p>
        </p:txBody>
      </p:sp>
      <p:sp>
        <p:nvSpPr>
          <p:cNvPr id="8" name="Shape 6"/>
          <p:cNvSpPr/>
          <p:nvPr/>
        </p:nvSpPr>
        <p:spPr>
          <a:xfrm>
            <a:off x="496119" y="3158207"/>
            <a:ext cx="3902943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9" name="Shape 7"/>
          <p:cNvSpPr/>
          <p:nvPr/>
        </p:nvSpPr>
        <p:spPr>
          <a:xfrm>
            <a:off x="489049" y="3158207"/>
            <a:ext cx="3917082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10" name="Text 8"/>
          <p:cNvSpPr/>
          <p:nvPr/>
        </p:nvSpPr>
        <p:spPr>
          <a:xfrm>
            <a:off x="666229" y="3299966"/>
            <a:ext cx="35627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EE78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DATEDIFF('public customer'[Joined Bank], TODAY(), DAY)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14997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Income</a:t>
            </a: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Band</a:t>
            </a:r>
          </a:p>
        </p:txBody>
      </p:sp>
      <p:sp>
        <p:nvSpPr>
          <p:cNvPr id="12" name="Shape 10"/>
          <p:cNvSpPr/>
          <p:nvPr/>
        </p:nvSpPr>
        <p:spPr>
          <a:xfrm>
            <a:off x="4749701" y="1880667"/>
            <a:ext cx="3902943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13" name="Shape 11"/>
          <p:cNvSpPr/>
          <p:nvPr/>
        </p:nvSpPr>
        <p:spPr>
          <a:xfrm>
            <a:off x="4742631" y="1880667"/>
            <a:ext cx="3917082" cy="737146"/>
          </a:xfrm>
          <a:prstGeom prst="roundRect">
            <a:avLst>
              <a:gd name="adj" fmla="val 2885"/>
            </a:avLst>
          </a:prstGeom>
          <a:solidFill>
            <a:srgbClr val="141419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811" y="2022425"/>
            <a:ext cx="35627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EE78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SWITCH(TRUE(),'public customer'[Estimated Income]&lt;100000,"Low", &lt;300000,"Mid","High")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9701" y="2777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Year</a:t>
            </a: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Of</a:t>
            </a:r>
            <a:r>
              <a:rPr lang="en-US" sz="1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Joining</a:t>
            </a:r>
          </a:p>
        </p:txBody>
      </p:sp>
      <p:sp>
        <p:nvSpPr>
          <p:cNvPr id="16" name="Shape 14"/>
          <p:cNvSpPr/>
          <p:nvPr/>
        </p:nvSpPr>
        <p:spPr>
          <a:xfrm>
            <a:off x="4749701" y="3158207"/>
            <a:ext cx="3902943" cy="51033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17" name="Shape 15"/>
          <p:cNvSpPr/>
          <p:nvPr/>
        </p:nvSpPr>
        <p:spPr>
          <a:xfrm>
            <a:off x="4742631" y="3158207"/>
            <a:ext cx="3917082" cy="510332"/>
          </a:xfrm>
          <a:prstGeom prst="roundRect">
            <a:avLst>
              <a:gd name="adj" fmla="val 4167"/>
            </a:avLst>
          </a:prstGeom>
          <a:solidFill>
            <a:srgbClr val="14141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811" y="3299966"/>
            <a:ext cx="35627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7EE78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YEAR(</a:t>
            </a:r>
            <a:r>
              <a:rPr lang="en-US" sz="1100" dirty="0" smtClean="0">
                <a:solidFill>
                  <a:srgbClr val="7EE787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'public customer'[Joined Bank])</a:t>
            </a:r>
            <a:endParaRPr lang="en-US" sz="1100" dirty="0">
              <a:solidFill>
                <a:srgbClr val="7EE787"/>
              </a:solidFill>
              <a:highlight>
                <a:srgbClr val="141419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119" y="421429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These columns enable segmentation, time filters, and fee calculations used throughout the dashboard.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4550"/>
            <a:ext cx="53887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800" dirty="0">
                <a:solidFill>
                  <a:srgbClr val="0BB8FA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Key DAX Measures (Summary)</a:t>
            </a:r>
            <a:endParaRPr lang="en-US" sz="2800" dirty="0">
              <a:solidFill>
                <a:srgbClr val="0BB8FA"/>
              </a:solidFill>
              <a:latin typeface="Georgia" panose="02040502050405020303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983656"/>
            <a:ext cx="1931566" cy="1728936"/>
          </a:xfrm>
          <a:prstGeom prst="roundRect">
            <a:avLst>
              <a:gd name="adj" fmla="val 52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64606"/>
            <a:ext cx="1931566" cy="76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226" y="1771055"/>
            <a:ext cx="425276" cy="4252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6772" y="187739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56927" y="2338015"/>
            <a:ext cx="1609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Clients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6927" y="2644527"/>
            <a:ext cx="16099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DISTINCTCOUNT([Client ID]) = 3,000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69443" y="1983656"/>
            <a:ext cx="1931640" cy="1728936"/>
          </a:xfrm>
          <a:prstGeom prst="roundRect">
            <a:avLst>
              <a:gd name="adj" fmla="val 52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43" y="1964606"/>
            <a:ext cx="1931640" cy="762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625" y="1771055"/>
            <a:ext cx="425276" cy="4252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50171" y="187739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2730252" y="2338015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Loans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2730252" y="2644527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[Bank Loan] + [Business Lending] + [Credit Card Balance] = $4.38bn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42842" y="1983656"/>
            <a:ext cx="1931640" cy="1728936"/>
          </a:xfrm>
          <a:prstGeom prst="roundRect">
            <a:avLst>
              <a:gd name="adj" fmla="val 52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1964606"/>
            <a:ext cx="1931640" cy="762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24" y="1771055"/>
            <a:ext cx="425276" cy="42527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523570" y="187739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4803651" y="2338015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Deposit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03651" y="2644527"/>
            <a:ext cx="16100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[Bank Deposit]+[Savings]+[Checking]+[Foreign Currency] = $3.77bn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6716241" y="1983656"/>
            <a:ext cx="1931640" cy="1728936"/>
          </a:xfrm>
          <a:prstGeom prst="roundRect">
            <a:avLst>
              <a:gd name="adj" fmla="val 5289"/>
            </a:avLst>
          </a:prstGeom>
          <a:solidFill>
            <a:srgbClr val="07070C"/>
          </a:solidFill>
          <a:ln w="19050">
            <a:solidFill>
              <a:srgbClr val="3F3F44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241" y="1964606"/>
            <a:ext cx="1931640" cy="7620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423" y="1771055"/>
            <a:ext cx="425276" cy="42527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596969" y="1877392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6877050" y="2338015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Total Fees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6877050" y="2644527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SUMX(customer, [Total Loans] * [Processing Fees]) = $158.19M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496119" y="387206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Measures recalculate dynamically with slicers and filter </a:t>
            </a: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context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79" y="561333"/>
            <a:ext cx="54759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800" dirty="0">
                <a:solidFill>
                  <a:srgbClr val="0BB8FA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Dashboard Structure &amp; Visuals</a:t>
            </a:r>
            <a:endParaRPr lang="en-US" sz="2800" dirty="0">
              <a:solidFill>
                <a:srgbClr val="0BB8FA"/>
              </a:solidFill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9" y="1976683"/>
            <a:ext cx="4203030" cy="255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68245" y="16134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Four Pages</a:t>
            </a:r>
            <a:endParaRPr lang="en-US" sz="14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168245" y="1976683"/>
            <a:ext cx="4752677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Home — 6 KPI cards + slicers (Total Clients, Loans, Deposits, Fees, CC, Savings)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Loan Analysis — loan distributions, income-band donut, treemap by nationality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Deposit Analysis — deposit composition, treemap by income, engagement timeframe bars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Summary — executive 3x4 KPI grid, cross-filters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68245" y="379340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530126"/>
            <a:ext cx="4880967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Key Insights &amp; Risk Observations</a:t>
            </a:r>
            <a:endParaRPr lang="en-US" sz="230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39840" y="1042764"/>
            <a:ext cx="117351" cy="819745"/>
          </a:xfrm>
          <a:prstGeom prst="roundRect">
            <a:avLst>
              <a:gd name="adj" fmla="val 15006"/>
            </a:avLst>
          </a:prstGeom>
          <a:solidFill>
            <a:srgbClr val="26262B"/>
          </a:solidFill>
          <a:ln/>
        </p:spPr>
      </p:sp>
      <p:sp>
        <p:nvSpPr>
          <p:cNvPr id="5" name="Text 2"/>
          <p:cNvSpPr/>
          <p:nvPr/>
        </p:nvSpPr>
        <p:spPr>
          <a:xfrm>
            <a:off x="4054376" y="116011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Funding Gap</a:t>
            </a:r>
            <a:endParaRPr lang="en-US" sz="12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54376" y="1401812"/>
            <a:ext cx="4678784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Total Loans $4.38bn vs Deposits $3.77bn → ~ $610M funding gap; external funding reliance and credit/interest risk.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15904" y="1959694"/>
            <a:ext cx="117351" cy="819745"/>
          </a:xfrm>
          <a:prstGeom prst="roundRect">
            <a:avLst>
              <a:gd name="adj" fmla="val 15006"/>
            </a:avLst>
          </a:prstGeom>
          <a:solidFill>
            <a:srgbClr val="26262B"/>
          </a:solidFill>
          <a:ln/>
        </p:spPr>
      </p:sp>
      <p:sp>
        <p:nvSpPr>
          <p:cNvPr id="8" name="Text 5"/>
          <p:cNvSpPr/>
          <p:nvPr/>
        </p:nvSpPr>
        <p:spPr>
          <a:xfrm>
            <a:off x="4230439" y="2077045"/>
            <a:ext cx="148813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Loan Concentration</a:t>
            </a:r>
            <a:endParaRPr lang="en-US" sz="12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230439" y="2318742"/>
            <a:ext cx="450272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Business Lending dominates ($2.6bn); Private Bank clients hold highest balances ($0.81bn) — concentration risk.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2042" y="2876624"/>
            <a:ext cx="117351" cy="819745"/>
          </a:xfrm>
          <a:prstGeom prst="roundRect">
            <a:avLst>
              <a:gd name="adj" fmla="val 15006"/>
            </a:avLst>
          </a:prstGeom>
          <a:solidFill>
            <a:srgbClr val="26262B"/>
          </a:solidFill>
          <a:ln/>
        </p:spPr>
      </p:sp>
      <p:sp>
        <p:nvSpPr>
          <p:cNvPr id="11" name="Text 8"/>
          <p:cNvSpPr/>
          <p:nvPr/>
        </p:nvSpPr>
        <p:spPr>
          <a:xfrm>
            <a:off x="4406578" y="299397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Segment Profile</a:t>
            </a:r>
            <a:endParaRPr lang="en-US" sz="12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406578" y="3235672"/>
            <a:ext cx="432658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Mid income band = 53% of loans and largest deposit share; long-term clients (&gt;20 yrs) hold highest loans &amp; deposits.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68105" y="3793554"/>
            <a:ext cx="117351" cy="819745"/>
          </a:xfrm>
          <a:prstGeom prst="roundRect">
            <a:avLst>
              <a:gd name="adj" fmla="val 15006"/>
            </a:avLst>
          </a:prstGeom>
          <a:solidFill>
            <a:srgbClr val="26262B"/>
          </a:solidFill>
          <a:ln/>
        </p:spPr>
      </p:sp>
      <p:sp>
        <p:nvSpPr>
          <p:cNvPr id="14" name="Text 11"/>
          <p:cNvSpPr/>
          <p:nvPr/>
        </p:nvSpPr>
        <p:spPr>
          <a:xfrm>
            <a:off x="4582641" y="391090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Risk Signals</a:t>
            </a:r>
            <a:endParaRPr lang="en-US" sz="1200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82641" y="4152602"/>
            <a:ext cx="415051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Loan vs Credit Card correlation (0.37) suggests debt-layering; foreign currency exposure modest ($89.65M) but monitored.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0366"/>
            <a:ext cx="44787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BB8FA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Conclusion &amp; Next Steps</a:t>
            </a:r>
            <a:endParaRPr lang="en-US" sz="2750" b="1" dirty="0">
              <a:solidFill>
                <a:srgbClr val="0BB8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746870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26262B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3139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Conclusion</a:t>
            </a:r>
            <a:endParaRPr lang="en-US" sz="135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7877" y="2620417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FINVAULT delivers a production-grade analytics pipeline and interactive Power BI dashboard that surfaces exposure, deposit behavior, fees, and engagement patterns.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746870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26262B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313905"/>
            <a:ext cx="19370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Future</a:t>
            </a: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6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Improvements</a:t>
            </a:r>
          </a:p>
        </p:txBody>
      </p:sp>
      <p:sp>
        <p:nvSpPr>
          <p:cNvPr id="8" name="Text 6"/>
          <p:cNvSpPr/>
          <p:nvPr/>
        </p:nvSpPr>
        <p:spPr>
          <a:xfrm>
            <a:off x="3402360" y="2620417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Connect Power BI to PostgreSQL for real-time refresh; build loan default model (scikit-learn / XGBoost); add client-level drill-through and RLS; ingest transaction history for forecasting.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746870"/>
            <a:ext cx="2622724" cy="425276"/>
          </a:xfrm>
          <a:prstGeom prst="roundRect">
            <a:avLst>
              <a:gd name="adj" fmla="val 480029"/>
            </a:avLst>
          </a:prstGeom>
          <a:solidFill>
            <a:srgbClr val="26262B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23139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D60093"/>
                </a:solidFill>
                <a:latin typeface="Georgia" panose="02040502050405020303" pitchFamily="18" charset="0"/>
                <a:ea typeface="Sora Medium" pitchFamily="34" charset="-122"/>
                <a:cs typeface="Sora Medium" pitchFamily="34" charset="-120"/>
              </a:rPr>
              <a:t>Metrics to Monitor</a:t>
            </a:r>
            <a:endParaRPr lang="en-US" sz="1600" b="1" dirty="0">
              <a:solidFill>
                <a:srgbClr val="D60093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66842" y="2620417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Total Loans $4.38bn </a:t>
            </a:r>
            <a:endParaRPr lang="en-US" sz="1100" dirty="0" smtClean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Total Deposits $3.77bn </a:t>
            </a:r>
            <a:endParaRPr lang="en-US" sz="1100" dirty="0" smtClean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Total Fees $158.19M </a:t>
            </a:r>
            <a:endParaRPr lang="en-US" sz="1100" dirty="0" smtClean="0">
              <a:solidFill>
                <a:srgbClr val="E0D6DE"/>
              </a:solidFill>
              <a:latin typeface="Noto Sans TC" pitchFamily="34" charset="0"/>
              <a:ea typeface="Noto Sans TC" pitchFamily="34" charset="-122"/>
              <a:cs typeface="Noto Sans TC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 smtClean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• 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Avg Engagement 15.76 yrs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677</Words>
  <Application>Microsoft Office PowerPoint</Application>
  <PresentationFormat>Affichage à l'écran (16:9)</PresentationFormat>
  <Paragraphs>89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Calibri</vt:lpstr>
      <vt:lpstr>Georgia</vt:lpstr>
      <vt:lpstr>Consolas</vt:lpstr>
      <vt:lpstr>Sora Medium</vt:lpstr>
      <vt:lpstr>Noto Sans TC</vt:lpstr>
      <vt:lpstr>Times New Roman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AdMin</cp:lastModifiedBy>
  <cp:revision>4</cp:revision>
  <dcterms:created xsi:type="dcterms:W3CDTF">2026-05-12T12:42:49Z</dcterms:created>
  <dcterms:modified xsi:type="dcterms:W3CDTF">2026-05-12T13:09:17Z</dcterms:modified>
</cp:coreProperties>
</file>